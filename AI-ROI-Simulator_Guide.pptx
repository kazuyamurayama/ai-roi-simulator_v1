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AI導入なし</c:v>
                </c:pt>
              </c:strCache>
            </c:strRef>
          </c:tx>
          <c:spPr>
            <a:ln w="38100">
              <a:solidFill>
                <a:srgbClr val="94A3B8"/>
              </a:solidFill>
            </a:ln>
          </c:spPr>
          <c:cat>
            <c:strRef>
              <c:f>Sheet1!$A$2:$A$6</c:f>
              <c:strCache>
                <c:ptCount val="5"/>
                <c:pt idx="0">
                  <c:v>1年目</c:v>
                </c:pt>
                <c:pt idx="1">
                  <c:v>2年目</c:v>
                </c:pt>
                <c:pt idx="2">
                  <c:v>3年目</c:v>
                </c:pt>
                <c:pt idx="3">
                  <c:v>4年目</c:v>
                </c:pt>
                <c:pt idx="4">
                  <c:v>5年目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102</c:v>
                </c:pt>
                <c:pt idx="2">
                  <c:v>104</c:v>
                </c:pt>
                <c:pt idx="3">
                  <c:v>106</c:v>
                </c:pt>
                <c:pt idx="4">
                  <c:v>108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AI導入あり（標準）</c:v>
                </c:pt>
              </c:strCache>
            </c:strRef>
          </c:tx>
          <c:spPr>
            <a:ln w="38100">
              <a:solidFill>
                <a:srgbClr val="3B82F6"/>
              </a:solidFill>
            </a:ln>
          </c:spPr>
          <c:cat>
            <c:strRef>
              <c:f>Sheet1!$A$2:$A$6</c:f>
              <c:strCache>
                <c:ptCount val="5"/>
                <c:pt idx="0">
                  <c:v>1年目</c:v>
                </c:pt>
                <c:pt idx="1">
                  <c:v>2年目</c:v>
                </c:pt>
                <c:pt idx="2">
                  <c:v>3年目</c:v>
                </c:pt>
                <c:pt idx="3">
                  <c:v>4年目</c:v>
                </c:pt>
                <c:pt idx="4">
                  <c:v>5年目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85</c:v>
                </c:pt>
                <c:pt idx="1">
                  <c:v>78</c:v>
                </c:pt>
                <c:pt idx="2">
                  <c:v>72</c:v>
                </c:pt>
                <c:pt idx="3">
                  <c:v>68</c:v>
                </c:pt>
                <c:pt idx="4">
                  <c:v>65</c:v>
                </c:pt>
              </c:numCache>
            </c:numRef>
          </c:val>
          <c:smooth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累計コスト効果</c:v>
                </c:pt>
              </c:strCache>
            </c:strRef>
          </c:tx>
          <c:spPr>
            <a:ln w="38100">
              <a:solidFill>
                <a:srgbClr val="10B981"/>
              </a:solidFill>
            </a:ln>
          </c:spPr>
          <c:cat>
            <c:strRef>
              <c:f>Sheet1!$A$2:$A$6</c:f>
              <c:strCache>
                <c:ptCount val="5"/>
                <c:pt idx="0">
                  <c:v>1年目</c:v>
                </c:pt>
                <c:pt idx="1">
                  <c:v>2年目</c:v>
                </c:pt>
                <c:pt idx="2">
                  <c:v>3年目</c:v>
                </c:pt>
                <c:pt idx="3">
                  <c:v>4年目</c:v>
                </c:pt>
                <c:pt idx="4">
                  <c:v>5年目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15</c:v>
                </c:pt>
                <c:pt idx="1">
                  <c:v>39</c:v>
                </c:pt>
                <c:pt idx="2">
                  <c:v>71</c:v>
                </c:pt>
                <c:pt idx="3">
                  <c:v>109</c:v>
                </c:pt>
                <c:pt idx="4">
                  <c:v>152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solidFill>
                <a:srgbClr val="CBD5E1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Meiryo"/>
              </a:defRPr>
            </a:pPr>
            <a:r>
              <a:t>AI-ROI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6B6D4"/>
                </a:solidFill>
                <a:latin typeface="Meiryo"/>
              </a:defRPr>
            </a:pPr>
            <a:r>
              <a:t>AI導入ROI試算ツール — 機能説明 &amp; 使い方ガイド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Meiryo"/>
              </a:defRPr>
            </a:pPr>
            <a:r>
              <a:t>初回商談でクライアントに「御社のAI導入ROI」を即座にシミュレーション。</a:t>
            </a:r>
            <a:br/>
            <a:r>
              <a:t>提案の説得力を劇的に高める、AIコンサルタント専用ツール。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303520"/>
            <a:ext cx="2926080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349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AI Transformation Architect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Meiryo"/>
              </a:defRPr>
            </a:pPr>
            <a:r>
              <a:t>Version 1.0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eiryo"/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Meiryo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AI-ROI Simulator とは？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3474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3832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Meiryo"/>
              </a:defRPr>
            </a:pPr>
            <a:r>
              <a:t>商談クロージングツール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Meiryo"/>
              </a:defRPr>
            </a:pPr>
            <a:r>
              <a:t>初回商談30分で「御社のAI導入ROI」を</a:t>
            </a:r>
            <a:br/>
            <a:r>
              <a:t>リアルタイムにシミュレーション。</a:t>
            </a:r>
            <a:br/>
            <a:r>
              <a:t>数字の力で次回アポ・受注を引き出します。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828800"/>
            <a:ext cx="3383280" cy="3474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828800"/>
            <a:ext cx="338328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2103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Meiryo"/>
              </a:defRPr>
            </a:pPr>
            <a:r>
              <a:t>ポートフォリオ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74320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Meiryo"/>
              </a:defRPr>
            </a:pPr>
            <a:r>
              <a:t>React + TypeScript で構築された</a:t>
            </a:r>
            <a:br/>
            <a:r>
              <a:t>プロフェッショナルなWebアプリ。</a:t>
            </a:r>
            <a:br/>
            <a:r>
              <a:t>AI変革アーキテクトとしての技術力の証明。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828800"/>
            <a:ext cx="3383280" cy="3474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828800"/>
            <a:ext cx="33832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103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Meiryo"/>
              </a:defRPr>
            </a:pPr>
            <a:r>
              <a:t>差別化の武器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74320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Meiryo"/>
              </a:defRPr>
            </a:pPr>
            <a:r>
              <a:t>日本市場初のインタラクティブ</a:t>
            </a:r>
            <a:br/>
            <a:r>
              <a:t>AI ROIシミュレーター。</a:t>
            </a:r>
            <a:br/>
            <a:r>
              <a:t>競合コンサルタントとの決定的な差別化要因。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Meiryo"/>
              </a:defRPr>
            </a:pPr>
            <a:r>
              <a:t>「この数字の根拠は？」に即座に答えられる —— 前提条件の完全な透明性を確保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eiryo"/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Meiryo"/>
              </a:defRPr>
            </a:pPr>
            <a:r>
              <a:t>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主要機能一覧（MVP）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54864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38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F1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eiryo"/>
              </a:defRPr>
            </a:pPr>
            <a:r>
              <a:t>パラメータ入力UI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Meiryo"/>
              </a:defRPr>
            </a:pPr>
            <a:r>
              <a:t>業種・規模・対象業務をステッパー形式で入力。</a:t>
            </a:r>
            <a:br/>
            <a:r>
              <a:t>商談の流れに沿ったガイド付きフォーム。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737360"/>
            <a:ext cx="33832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63439" y="1920240"/>
            <a:ext cx="548640" cy="3200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39" y="1938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F2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59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eiryo"/>
              </a:defRPr>
            </a:pPr>
            <a:r>
              <a:t>ROIダッシュボード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42316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Meiryo"/>
              </a:defRPr>
            </a:pPr>
            <a:r>
              <a:t>ヒーローナンバー + KPIカード + グラフで</a:t>
            </a:r>
            <a:br/>
            <a:r>
              <a:t>試算結果を一目で把握。30秒で理解可能。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737360"/>
            <a:ext cx="33832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0" y="1920240"/>
            <a:ext cx="54864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938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F3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eiryo"/>
              </a:defRPr>
            </a:pPr>
            <a:r>
              <a:t>3シナリオ比較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42316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Meiryo"/>
              </a:defRPr>
            </a:pPr>
            <a:r>
              <a:t>保守的 / 標準 / 楽観的の3シナリオを</a:t>
            </a:r>
            <a:br/>
            <a:r>
              <a:t>並列表示。信頼性の担保と説得力の両立。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114800"/>
            <a:ext cx="33832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4297680"/>
            <a:ext cx="5486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3159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F4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eiryo"/>
              </a:defRPr>
            </a:pPr>
            <a:r>
              <a:t>業種別テンプレート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80060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Meiryo"/>
              </a:defRPr>
            </a:pPr>
            <a:r>
              <a:t>10業種のプリセットパラメータ。</a:t>
            </a:r>
            <a:br/>
            <a:r>
              <a:t>業種選択だけで即座に試算を開始。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59" y="4114800"/>
            <a:ext cx="33832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663439" y="4297680"/>
            <a:ext cx="54864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39" y="43159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F9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59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eiryo"/>
              </a:defRPr>
            </a:pPr>
            <a:r>
              <a:t>感度分析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79" y="480060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Meiryo"/>
              </a:defRPr>
            </a:pPr>
            <a:r>
              <a:t>スライダー操作でROIがリアルタイム変動。</a:t>
            </a:r>
            <a:br/>
            <a:r>
              <a:t>Excelでは不可能なインタラクティブ体験。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4114800"/>
            <a:ext cx="33832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412480" y="4297680"/>
            <a:ext cx="548640" cy="3200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43159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F11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eiryo"/>
              </a:defRPr>
            </a:pPr>
            <a:r>
              <a:t>導入あり/なし比較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80060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Meiryo"/>
              </a:defRPr>
            </a:pPr>
            <a:r>
              <a:t>AI導入前後の3〜5年推移グラフ。</a:t>
            </a:r>
            <a:br/>
            <a:r>
              <a:t>経営層が最も直感的に理解できる表示。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eiryo"/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Meiryo"/>
              </a:defRPr>
            </a:pPr>
            <a:r>
              <a:t>HOW TO USE —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Step 1: クライアント情報を入力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Meiryo"/>
              </a:defRPr>
            </a:pPr>
            <a:r>
              <a:t>業種を選択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331720"/>
            <a:ext cx="4206240" cy="502920"/>
          </a:xfrm>
          <a:prstGeom prst="roundRect">
            <a:avLst/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35915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eiryo"/>
              </a:defRPr>
            </a:pPr>
            <a:r>
              <a:t>製造業 / 小売・EC / 金融 / IT / 医療 / 物流 / 不動産 / 教育 / メディア / 専門サービス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Meiryo"/>
              </a:defRPr>
            </a:pPr>
            <a:r>
              <a:t>従業員数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383280"/>
            <a:ext cx="4206240" cy="502920"/>
          </a:xfrm>
          <a:prstGeom prst="roundRect">
            <a:avLst/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41071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eiryo"/>
              </a:defRPr>
            </a:pPr>
            <a:r>
              <a:t>〜50名 / 51-200名 / 201-500名 / 501-1,000名 / 1,001-5,000名 / 5,001名〜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148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Meiryo"/>
              </a:defRPr>
            </a:pPr>
            <a:r>
              <a:t>年間売上規模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434840"/>
            <a:ext cx="4206240" cy="502920"/>
          </a:xfrm>
          <a:prstGeom prst="roundRect">
            <a:avLst/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446227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eiryo"/>
              </a:defRPr>
            </a:pPr>
            <a:r>
              <a:t>〜1億円 / 1-10億円 / 10-50億円 / 50-100億円 / 100-500億円 / 500億円〜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1663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Meiryo"/>
              </a:defRPr>
            </a:pPr>
            <a:r>
              <a:t>AI導入対象業務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5486400"/>
            <a:ext cx="4206240" cy="502920"/>
          </a:xfrm>
          <a:prstGeom prst="roundRect">
            <a:avLst/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551383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eiryo"/>
              </a:defRPr>
            </a:pPr>
            <a:r>
              <a:t>カスタマーサポート / 営業・マーケ / データ分析 / 文書管理 / 経理 / 人事 / 品質管理 / SCM / 広告運用 / R&amp;D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eiryo"/>
              </a:defRPr>
            </a:pPr>
            <a:r>
              <a:t>入力のポイント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468880"/>
            <a:ext cx="45720" cy="7315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468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Meiryo"/>
              </a:defRPr>
            </a:pPr>
            <a:r>
              <a:t>二段構え設計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788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eiryo"/>
              </a:defRPr>
            </a:pPr>
            <a:r>
              <a:t>必須入力（4項目）だけで概算が出ます。</a:t>
            </a:r>
            <a:br/>
            <a:r>
              <a:t>任意入力でさらに精度を上げることも可能。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520440"/>
            <a:ext cx="4572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3520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Meiryo"/>
              </a:defRPr>
            </a:pPr>
            <a:r>
              <a:t>商談で聞ける範囲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eiryo"/>
              </a:defRPr>
            </a:pPr>
            <a:r>
              <a:t>必須項目はすべて初回商談のヒアリングで</a:t>
            </a:r>
            <a:br/>
            <a:r>
              <a:t>自然に聞ける情報のみに限定。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572000"/>
            <a:ext cx="4572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4572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eiryo"/>
              </a:defRPr>
            </a:pPr>
            <a:r>
              <a:t>業種テンプレート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892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eiryo"/>
              </a:defRPr>
            </a:pPr>
            <a:r>
              <a:t>業種を選ぶだけで典型的なパラメータが</a:t>
            </a:r>
            <a:br/>
            <a:r>
              <a:t>自動プリセット。入力の手間を最小化。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5623560"/>
            <a:ext cx="45720" cy="7315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5623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Meiryo"/>
              </a:defRPr>
            </a:pPr>
            <a:r>
              <a:t>リアルタイム反映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943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eiryo"/>
              </a:defRPr>
            </a:pPr>
            <a:r>
              <a:t>入力と同時にプレビューが更新。</a:t>
            </a:r>
            <a:br/>
            <a:r>
              <a:t>商談中のテンポを損なわない設計。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eiryo"/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Meiryo"/>
              </a:defRPr>
            </a:pPr>
            <a:r>
              <a:t>HOW TO USE — 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Step 2: ROIダッシュボードで結果を確認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1371600"/>
          </a:xfrm>
          <a:prstGeom prst="round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106984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eiryo"/>
              </a:defRPr>
            </a:pPr>
            <a:r>
              <a:t>御社のAI導入による年間効果（標準シナリオ）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0B981"/>
                </a:solidFill>
                <a:latin typeface="Meiryo"/>
              </a:defRPr>
            </a:pPr>
            <a:r>
              <a:t>¥ 2,400 万円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Meiryo"/>
              </a:defRPr>
            </a:pPr>
            <a:r>
              <a:t>年間コスト削減額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246888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383280"/>
            <a:ext cx="24688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20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eiryo"/>
              </a:defRPr>
            </a:pPr>
            <a:r>
              <a:t>3年ROI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Meiryo"/>
              </a:defRPr>
            </a:pPr>
            <a:r>
              <a:t>320%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39" y="3383280"/>
            <a:ext cx="246888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39" y="3383280"/>
            <a:ext cx="24688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19" y="3520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eiryo"/>
              </a:defRPr>
            </a:pPr>
            <a:r>
              <a:t>投資回収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19" y="38404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Meiryo"/>
              </a:defRPr>
            </a:pPr>
            <a:r>
              <a:t>8.5 ヶ月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383280"/>
            <a:ext cx="246888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3383280"/>
            <a:ext cx="24688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39" y="3520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eiryo"/>
              </a:defRPr>
            </a:pPr>
            <a:r>
              <a:t>売上増加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39" y="38404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  <a:latin typeface="Meiryo"/>
              </a:defRPr>
            </a:pPr>
            <a:r>
              <a:t>¥1,800万/年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3383280"/>
            <a:ext cx="246888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98280" y="3383280"/>
            <a:ext cx="24688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3520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eiryo"/>
              </a:defRPr>
            </a:pPr>
            <a:r>
              <a:t>FTE換算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38404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Meiryo"/>
              </a:defRPr>
            </a:pPr>
            <a:r>
              <a:t>3.2 人分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846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eiryo"/>
              </a:defRPr>
            </a:pPr>
            <a:r>
              <a:t>「30秒ルール」— 経営層が画面を見て30秒で「うちにとっての効果」を理解できるUI設計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303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Meiryo"/>
              </a:defRPr>
            </a:pPr>
            <a:r>
              <a:t>最上部のヒーローナンバーで最も重要な数字を大きく表示。KPIカードで主要指標を一覧。すべての数字はクライアントが入力した情報に基づくパーソナライズされた試算です。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eiryo"/>
              </a:defRPr>
            </a:pPr>
            <a:r>
              <a:t>※ 試算値は公開調査レポートおよび類似プロジェクト実績に基づく推定値です。前提条件はダッシュボード下部に明示されます。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eiryo"/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Meiryo"/>
              </a:defRPr>
            </a:pPr>
            <a:r>
              <a:t>HOW TO USE — 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Step 3: 3シナリオで信頼性を担保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3383280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94A3B8"/>
                </a:solidFill>
                <a:latin typeface="Meiryo"/>
              </a:defRPr>
            </a:pPr>
            <a:r>
              <a:t>保守的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eiryo"/>
              </a:defRPr>
            </a:pPr>
            <a:r>
              <a:t>Conservative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80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eiryo"/>
              </a:defRPr>
            </a:pPr>
            <a:r>
              <a:t>年間効果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880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Meiryo"/>
              </a:defRPr>
            </a:pPr>
            <a:r>
              <a:t>¥1,200万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eiryo"/>
              </a:defRPr>
            </a:pPr>
            <a:r>
              <a:t>3年ROI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566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Meiryo"/>
              </a:defRPr>
            </a:pPr>
            <a:r>
              <a:t>180%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51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eiryo"/>
              </a:defRPr>
            </a:pPr>
            <a:r>
              <a:t>回収期間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4251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Meiryo"/>
              </a:defRPr>
            </a:pPr>
            <a:r>
              <a:t>14ヶ月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9377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eiryo"/>
              </a:defRPr>
            </a:pPr>
            <a:r>
              <a:t>最低限期待できる効果。</a:t>
            </a:r>
            <a:br/>
            <a:r>
              <a:t>すべてのパラメータに下限値を適用。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1737360"/>
            <a:ext cx="338328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59" y="1737360"/>
            <a:ext cx="33832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79" y="19659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Meiryo"/>
              </a:defRPr>
            </a:pPr>
            <a:r>
              <a:t>標準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23774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eiryo"/>
              </a:defRPr>
            </a:pPr>
            <a:r>
              <a:t>Standard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2880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eiryo"/>
              </a:defRPr>
            </a:pPr>
            <a:r>
              <a:t>年間効果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2880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Meiryo"/>
              </a:defRPr>
            </a:pPr>
            <a:r>
              <a:t>¥2,400万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79" y="3566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eiryo"/>
              </a:defRPr>
            </a:pPr>
            <a:r>
              <a:t>3年ROI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3566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Meiryo"/>
              </a:defRPr>
            </a:pPr>
            <a:r>
              <a:t>320%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4251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eiryo"/>
              </a:defRPr>
            </a:pPr>
            <a:r>
              <a:t>回収期間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4251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Meiryo"/>
              </a:defRPr>
            </a:pPr>
            <a:r>
              <a:t>8.5ヶ月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79" y="49377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eiryo"/>
              </a:defRPr>
            </a:pPr>
            <a:r>
              <a:t>一般的に期待できる効果。</a:t>
            </a:r>
            <a:br/>
            <a:r>
              <a:t>業界平均のベンチマーク値を適用。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1737360"/>
            <a:ext cx="338328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1737360"/>
            <a:ext cx="33832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19659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  <a:latin typeface="Meiryo"/>
              </a:defRPr>
            </a:pPr>
            <a:r>
              <a:t>楽観的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23774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eiryo"/>
              </a:defRPr>
            </a:pPr>
            <a:r>
              <a:t>Optimistic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2880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eiryo"/>
              </a:defRPr>
            </a:pPr>
            <a:r>
              <a:t>年間効果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2880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Meiryo"/>
              </a:defRPr>
            </a:pPr>
            <a:r>
              <a:t>¥4,100万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3566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eiryo"/>
              </a:defRPr>
            </a:pPr>
            <a:r>
              <a:t>3年ROI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3566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Meiryo"/>
              </a:defRPr>
            </a:pPr>
            <a:r>
              <a:t>580%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251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eiryo"/>
              </a:defRPr>
            </a:pPr>
            <a:r>
              <a:t>回収期間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4251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Meiryo"/>
              </a:defRPr>
            </a:pPr>
            <a:r>
              <a:t>5ヶ月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49377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eiryo"/>
              </a:defRPr>
            </a:pPr>
            <a:r>
              <a:t>最大限の効果が出た場合。</a:t>
            </a:r>
            <a:br/>
            <a:r>
              <a:t>すべてのパラメータに上限値を適用。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eiryo"/>
              </a:defRPr>
            </a:pPr>
            <a:r>
              <a:t>「保守的に見積もっても年間1,200万円の効果が見込めます」— この一言がクライアントの信頼を勝ち取る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eiryo"/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Meiryo"/>
              </a:defRPr>
            </a:pPr>
            <a:r>
              <a:t>HOW TO USE — 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Step 4: 感度分析でインタラクティブに探索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eiryo"/>
              </a:defRPr>
            </a:pPr>
            <a:r>
              <a:t>AI自動化率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3B82F6"/>
                </a:solidFill>
                <a:latin typeface="Meiryo"/>
              </a:defRPr>
            </a:pPr>
            <a:r>
              <a:t>25%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423160"/>
            <a:ext cx="4206240" cy="109728"/>
          </a:xfrm>
          <a:prstGeom prst="roundRect">
            <a:avLst/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7280" y="2423160"/>
            <a:ext cx="2103120" cy="10972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56032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Meiryo"/>
              </a:defRPr>
            </a:pPr>
            <a:r>
              <a:t>15% ← → 40%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08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eiryo"/>
              </a:defRPr>
            </a:pPr>
            <a:r>
              <a:t>導入投資額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6B6D4"/>
                </a:solidFill>
                <a:latin typeface="Meiryo"/>
              </a:defRPr>
            </a:pPr>
            <a:r>
              <a:t>¥2,000万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429000"/>
            <a:ext cx="4206240" cy="109728"/>
          </a:xfrm>
          <a:prstGeom prst="roundRect">
            <a:avLst/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3429000"/>
            <a:ext cx="2103120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56616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Meiryo"/>
              </a:defRPr>
            </a:pPr>
            <a:r>
              <a:t>¥1,000万 ← → ¥3,000万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114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eiryo"/>
              </a:defRPr>
            </a:pPr>
            <a:r>
              <a:t>効果発現期間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0B981"/>
                </a:solidFill>
                <a:latin typeface="Meiryo"/>
              </a:defRPr>
            </a:pPr>
            <a:r>
              <a:t>6ヶ月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4434840"/>
            <a:ext cx="4206240" cy="109728"/>
          </a:xfrm>
          <a:prstGeom prst="roundRect">
            <a:avLst/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97280" y="4434840"/>
            <a:ext cx="2103120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57200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Meiryo"/>
              </a:defRPr>
            </a:pPr>
            <a:r>
              <a:t>3ヶ月 ← → 18ヶ月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120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eiryo"/>
              </a:defRPr>
            </a:pPr>
            <a:r>
              <a:t>年間運用費率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512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59E0B"/>
                </a:solidFill>
                <a:latin typeface="Meiryo"/>
              </a:defRPr>
            </a:pPr>
            <a:r>
              <a:t>25%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5440680"/>
            <a:ext cx="4206240" cy="109728"/>
          </a:xfrm>
          <a:prstGeom prst="roundRect">
            <a:avLst/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97280" y="5440680"/>
            <a:ext cx="2103120" cy="10972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57784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Meiryo"/>
              </a:defRPr>
            </a:pPr>
            <a:r>
              <a:t>15% ← → 35%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eiryo"/>
              </a:defRPr>
            </a:pPr>
            <a:r>
              <a:t>Excelとの決定的な違い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68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6B6D4"/>
                </a:solidFill>
                <a:latin typeface="Meiryo"/>
              </a:defRPr>
            </a:pPr>
            <a:r>
              <a:t>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24688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Meiryo"/>
              </a:defRPr>
            </a:pPr>
            <a:r>
              <a:t>スライダーを動かすと、グラフとKPIがリアルタイムに更新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2461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6B6D4"/>
                </a:solidFill>
                <a:latin typeface="Meiryo"/>
              </a:defRPr>
            </a:pPr>
            <a: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2461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Meiryo"/>
              </a:defRPr>
            </a:pPr>
            <a:r>
              <a:t>「もし自動化率がもう少し低かったら？」</a:t>
            </a:r>
            <a:br/>
            <a:r>
              <a:t>→ その場でスライダーを動かして即座に回答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0233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6B6D4"/>
                </a:solidFill>
                <a:latin typeface="Meiryo"/>
              </a:defRPr>
            </a:pPr>
            <a: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0233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Meiryo"/>
              </a:defRPr>
            </a:pPr>
            <a:r>
              <a:t>商談中の「What-if」質問に瞬時に対応可能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800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6B6D4"/>
                </a:solidFill>
                <a:latin typeface="Meiryo"/>
              </a:defRPr>
            </a:pPr>
            <a: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8006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Meiryo"/>
              </a:defRPr>
            </a:pPr>
            <a:r>
              <a:t>各パラメータがROIに与える影響度を</a:t>
            </a:r>
            <a:br/>
            <a:r>
              <a:t>トルネードチャートで可視化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577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6B6D4"/>
                </a:solidFill>
                <a:latin typeface="Meiryo"/>
              </a:defRPr>
            </a:pPr>
            <a:r>
              <a:t>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55778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Meiryo"/>
              </a:defRPr>
            </a:pPr>
            <a:r>
              <a:t>Excel操作不要。クリック＆ドラッグだけで探索完了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eiryo"/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Meiryo"/>
              </a:defRPr>
            </a:pPr>
            <a:r>
              <a:t>HOW TO USE — STEP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Step 5: 3〜5年の将来推移を比較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73736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4672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eiryo"/>
              </a:defRPr>
            </a:pPr>
            <a:r>
              <a:t>グラフの読み方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2468880"/>
            <a:ext cx="365760" cy="3657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2560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  <a:latin typeface="Meiryo"/>
              </a:defRPr>
            </a:pPr>
            <a:r>
              <a:t>グレーの線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834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eiryo"/>
              </a:defRPr>
            </a:pPr>
            <a:r>
              <a:t>AI導入なしの場合の</a:t>
            </a:r>
            <a:br/>
            <a:r>
              <a:t>コスト推移（現状維持）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3566160"/>
            <a:ext cx="36576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36576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Meiryo"/>
              </a:defRPr>
            </a:pPr>
            <a:r>
              <a:t>ブルーの線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931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eiryo"/>
              </a:defRPr>
            </a:pPr>
            <a:r>
              <a:t>AI導入ありの場合の</a:t>
            </a:r>
            <a:br/>
            <a:r>
              <a:t>コスト推移（削減効果）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4663440"/>
            <a:ext cx="3657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47548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Meiryo"/>
              </a:defRPr>
            </a:pPr>
            <a:r>
              <a:t>グリーンの線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50292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eiryo"/>
              </a:defRPr>
            </a:pPr>
            <a:r>
              <a:t>累計コスト効果</a:t>
            </a:r>
            <a:br/>
            <a:r>
              <a:t>（差額の積み上げ）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5303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eiryo"/>
              </a:defRPr>
            </a:pPr>
            <a:r>
              <a:t>経営層が最も直感的に理解できる</a:t>
            </a:r>
            <a:br/>
            <a:r>
              <a:t>「Before / After」の可視化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eiryo"/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Meiryo"/>
              </a:defRPr>
            </a:pPr>
            <a:r>
              <a:t>ROI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ROI計算モデルの仕組み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33832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Meiryo"/>
              </a:defRPr>
            </a:pPr>
            <a:r>
              <a:t>Model A: コスト削減型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68880"/>
            <a:ext cx="3017520" cy="822960"/>
          </a:xfrm>
          <a:prstGeom prst="round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5146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onsolas"/>
              </a:defRPr>
            </a:pPr>
            <a:r>
              <a:t>対象業務コスト × AI自動化率</a:t>
            </a:r>
            <a:br/>
            <a:r>
              <a:t>× 業種補正係数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747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Meiryo"/>
              </a:defRPr>
            </a:pPr>
            <a:r>
              <a:t>適用場面: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49039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eiryo"/>
              </a:defRPr>
            </a:pPr>
            <a:r>
              <a:t>バックオフィス業務の自動化、</a:t>
            </a:r>
            <a:br/>
            <a:r>
              <a:t>問い合わせ対応の自動化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737360"/>
            <a:ext cx="338328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1737360"/>
            <a:ext cx="33832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79" y="19659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Meiryo"/>
              </a:defRPr>
            </a:pPr>
            <a:r>
              <a:t>Model B: 売上増加型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39" y="2468880"/>
            <a:ext cx="3017520" cy="822960"/>
          </a:xfrm>
          <a:prstGeom prst="round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599" y="25146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onsolas"/>
              </a:defRPr>
            </a:pPr>
            <a:r>
              <a:t>現在売上 × 対象業務売上貢献率</a:t>
            </a:r>
            <a:br/>
            <a:r>
              <a:t>× AI効果係数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34747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Meiryo"/>
              </a:defRPr>
            </a:pPr>
            <a:r>
              <a:t>適用場面: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3749039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eiryo"/>
              </a:defRPr>
            </a:pPr>
            <a:r>
              <a:t>営業最適化、広告最適化、</a:t>
            </a:r>
            <a:br/>
            <a:r>
              <a:t>需要予測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737360"/>
            <a:ext cx="338328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737360"/>
            <a:ext cx="338328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19659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Meiryo"/>
              </a:defRPr>
            </a:pPr>
            <a:r>
              <a:t>Model C: 生産性向上型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2468880"/>
            <a:ext cx="3017520" cy="822960"/>
          </a:xfrm>
          <a:prstGeom prst="round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9640" y="25146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onsolas"/>
              </a:defRPr>
            </a:pPr>
            <a:r>
              <a:t>削減時間 × FTE換算</a:t>
            </a:r>
            <a:br/>
            <a:r>
              <a:t>× 平均人件費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4747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Meiryo"/>
              </a:defRPr>
            </a:pPr>
            <a:r>
              <a:t>適用場面: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749039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eiryo"/>
              </a:defRPr>
            </a:pPr>
            <a:r>
              <a:t>すべての業務に適用可能な</a:t>
            </a:r>
            <a:br/>
            <a:r>
              <a:t>汎用モデル（FTE換算）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937760"/>
            <a:ext cx="106984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120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eiryo"/>
              </a:defRPr>
            </a:pPr>
            <a:r>
              <a:t>複合ROI計算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4864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6B6D4"/>
                </a:solidFill>
                <a:latin typeface="Consolas"/>
              </a:defRPr>
            </a:pPr>
            <a:r>
              <a:t>総合年間効果 = Σ（各対象業務の [コスト削減額 + 売上増加額 + 生産性向上額]）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8064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6B6D4"/>
                </a:solidFill>
                <a:latin typeface="Consolas"/>
              </a:defRPr>
            </a:pPr>
            <a:r>
              <a:t>3年ROI = (総合年間効果 × 3 - AI導入投資合計) / AI導入投資合計 × 100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eiryo"/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Meiryo"/>
              </a:defRPr>
            </a:pPr>
            <a:r>
              <a:t>TRUST &amp; TRANSPARENCY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データの信頼性と根拠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640080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eiryo"/>
              </a:defRPr>
            </a:pPr>
            <a:r>
              <a:t>データソース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783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eiryo"/>
              </a:defRPr>
            </a:pPr>
            <a:r>
              <a:t>用途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7830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eiryo"/>
              </a:defRPr>
            </a:pPr>
            <a:r>
              <a:t>信頼度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94560"/>
            <a:ext cx="640080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402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eiryo"/>
              </a:defRPr>
            </a:pPr>
            <a:r>
              <a:t>McKinsey Global AI Survey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240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eiryo"/>
              </a:defRPr>
            </a:pPr>
            <a:r>
              <a:t>業種別AI導入効果の平均値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2402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  <a:latin typeface="Meiryo"/>
              </a:defRPr>
            </a:pPr>
            <a:r>
              <a:t>★★★★★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51760"/>
            <a:ext cx="6400800" cy="411480"/>
          </a:xfrm>
          <a:prstGeom prst="roundRect">
            <a:avLst/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97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eiryo"/>
              </a:defRPr>
            </a:pPr>
            <a:r>
              <a:t>Accenture AI Profit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697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eiryo"/>
              </a:defRPr>
            </a:pPr>
            <a:r>
              <a:t>業種別利益率改善の予測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6974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  <a:latin typeface="Meiryo"/>
              </a:defRPr>
            </a:pPr>
            <a:r>
              <a:t>★★★★☆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108960"/>
            <a:ext cx="640080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154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eiryo"/>
              </a:defRPr>
            </a:pPr>
            <a:r>
              <a:t>MIT Sloan Management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154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eiryo"/>
              </a:defRPr>
            </a:pPr>
            <a:r>
              <a:t>企業規模別AI導入ROI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1546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  <a:latin typeface="Meiryo"/>
              </a:defRPr>
            </a:pPr>
            <a:r>
              <a:t>★★★★☆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566160"/>
            <a:ext cx="6400800" cy="411480"/>
          </a:xfrm>
          <a:prstGeom prst="roundRect">
            <a:avLst/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611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eiryo"/>
              </a:defRPr>
            </a:pPr>
            <a:r>
              <a:t>IDC / Gartner Reports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611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eiryo"/>
              </a:defRPr>
            </a:pPr>
            <a:r>
              <a:t>IT投資規模のベンチマーク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611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  <a:latin typeface="Meiryo"/>
              </a:defRPr>
            </a:pPr>
            <a:r>
              <a:t>★★★★★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023360"/>
            <a:ext cx="640080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069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eiryo"/>
              </a:defRPr>
            </a:pPr>
            <a:r>
              <a:t>Deloitte AI Institute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069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eiryo"/>
              </a:defRPr>
            </a:pPr>
            <a:r>
              <a:t>業種別AI活用事例・効果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0690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  <a:latin typeface="Meiryo"/>
              </a:defRPr>
            </a:pPr>
            <a:r>
              <a:t>★★★★☆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480560"/>
            <a:ext cx="6400800" cy="411480"/>
          </a:xfrm>
          <a:prstGeom prst="roundRect">
            <a:avLst/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5262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eiryo"/>
              </a:defRPr>
            </a:pPr>
            <a:r>
              <a:t>自社5社AI導入実績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4526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eiryo"/>
              </a:defRPr>
            </a:pPr>
            <a:r>
              <a:t>特定領域のキャリブレーション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5262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  <a:latin typeface="Meiryo"/>
              </a:defRPr>
            </a:pPr>
            <a:r>
              <a:t>★★★☆☆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18288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eiryo"/>
              </a:defRPr>
            </a:pPr>
            <a:r>
              <a:t>信頼性を担保する設計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2468880"/>
            <a:ext cx="45720" cy="7315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0" y="24688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Meiryo"/>
              </a:defRPr>
            </a:pPr>
            <a:r>
              <a:t>3シナリオ比較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27432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eiryo"/>
              </a:defRPr>
            </a:pPr>
            <a:r>
              <a:t>楽観的な数字だけでなく</a:t>
            </a:r>
            <a:br/>
            <a:r>
              <a:t>保守的シナリオを必ず提示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0" y="3474720"/>
            <a:ext cx="4572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0" y="34747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Meiryo"/>
              </a:defRPr>
            </a:pPr>
            <a:r>
              <a:t>前提条件の明示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3749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eiryo"/>
              </a:defRPr>
            </a:pPr>
            <a:r>
              <a:t>すべての試算結果に</a:t>
            </a:r>
            <a:br/>
            <a:r>
              <a:t>計算の前提条件を表示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4480560"/>
            <a:ext cx="45720" cy="7315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0" y="44805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Meiryo"/>
              </a:defRPr>
            </a:pPr>
            <a:r>
              <a:t>データソース開示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4754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eiryo"/>
              </a:defRPr>
            </a:pPr>
            <a:r>
              <a:t>ベンチマーク値の出典を</a:t>
            </a:r>
            <a:br/>
            <a:r>
              <a:t>いつでも確認可能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0" y="5486400"/>
            <a:ext cx="4572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0" y="54864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Meiryo"/>
              </a:defRPr>
            </a:pPr>
            <a:r>
              <a:t>免責事項の表示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0" y="5760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eiryo"/>
              </a:defRPr>
            </a:pPr>
            <a:r>
              <a:t>推定値であることを明記。</a:t>
            </a:r>
            <a:br/>
            <a:r>
              <a:t>コンサルとしての誠実さ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eiryo"/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Meiryo"/>
              </a:defRPr>
            </a:pPr>
            <a:r>
              <a:t>MEETING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商談30分での活用フロー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371600" cy="365760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562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0-5分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94A3B8"/>
                </a:solidFill>
                <a:latin typeface="Meiryo"/>
              </a:defRPr>
            </a:pPr>
            <a:r>
              <a:t>ヒアリング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256032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eiryo"/>
              </a:defRPr>
            </a:pPr>
            <a:r>
              <a:t>自己紹介</a:t>
            </a:r>
            <a:br/>
            <a:r>
              <a:t>課題のヒアリング</a:t>
            </a:r>
            <a:br/>
            <a:r>
              <a:t>ツールは未使用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89120"/>
            <a:ext cx="2560320" cy="1097280"/>
          </a:xfrm>
          <a:prstGeom prst="roundRect">
            <a:avLst/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43484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  <a:latin typeface="Meiryo"/>
              </a:defRPr>
            </a:pPr>
            <a:r>
              <a:t>トークスクリプト: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6B6D4"/>
                </a:solidFill>
                <a:latin typeface="Meiryo"/>
              </a:defRPr>
            </a:pPr>
            <a:r>
              <a:t>通常の商談と同じ流れで</a:t>
            </a:r>
            <a:br/>
            <a:r>
              <a:t>自然にスタート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94A3B8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1828800"/>
            <a:ext cx="137160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18562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5-15分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377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  <a:latin typeface="Meiryo"/>
              </a:defRPr>
            </a:pPr>
            <a:r>
              <a:t>業種・課題特定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2834640"/>
            <a:ext cx="256032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292608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eiryo"/>
              </a:defRPr>
            </a:pPr>
            <a:r>
              <a:t>業種を選択</a:t>
            </a:r>
            <a:br/>
            <a:r>
              <a:t>AI適用業務を特定</a:t>
            </a:r>
            <a:br/>
            <a:r>
              <a:t>テンプレート選択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4389120"/>
            <a:ext cx="2560320" cy="1097280"/>
          </a:xfrm>
          <a:prstGeom prst="roundRect">
            <a:avLst/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443484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  <a:latin typeface="Meiryo"/>
              </a:defRPr>
            </a:pPr>
            <a:r>
              <a:t>トークスクリプト: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6634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6B6D4"/>
                </a:solidFill>
                <a:latin typeface="Meiryo"/>
              </a:defRPr>
            </a:pPr>
            <a:r>
              <a:t>「御社の業種では、この業務に</a:t>
            </a:r>
            <a:br/>
            <a:r>
              <a:t>AIが最も効果的です」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94A3B8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0" y="1828800"/>
            <a:ext cx="137160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18562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15-25分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377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Meiryo"/>
              </a:defRPr>
            </a:pPr>
            <a:r>
              <a:t>ROI提示 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2834640"/>
            <a:ext cx="256032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292608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eiryo"/>
              </a:defRPr>
            </a:pPr>
            <a:r>
              <a:t>パラメータ入力</a:t>
            </a:r>
            <a:br/>
            <a:r>
              <a:t>リアルタイム試算</a:t>
            </a:r>
            <a:br/>
            <a:r>
              <a:t>感度分析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389120"/>
            <a:ext cx="2560320" cy="1097280"/>
          </a:xfrm>
          <a:prstGeom prst="roundRect">
            <a:avLst/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43484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  <a:latin typeface="Meiryo"/>
              </a:defRPr>
            </a:pPr>
            <a:r>
              <a:t>トークスクリプト: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6634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6B6D4"/>
                </a:solidFill>
                <a:latin typeface="Meiryo"/>
              </a:defRPr>
            </a:pPr>
            <a:r>
              <a:t>「御社の場合、年間2,400万円の</a:t>
            </a:r>
            <a:br/>
            <a:r>
              <a:t>効果が見込めます」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94A3B8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92640" y="1828800"/>
            <a:ext cx="137160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0" y="18562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25-30分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2377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Meiryo"/>
              </a:defRPr>
            </a:pPr>
            <a:r>
              <a:t>クロージング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26880" y="2834640"/>
            <a:ext cx="256032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760" y="292608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eiryo"/>
              </a:defRPr>
            </a:pPr>
            <a:r>
              <a:t>シナリオ比較</a:t>
            </a:r>
            <a:br/>
            <a:r>
              <a:t>将来推移グラフ</a:t>
            </a:r>
            <a:br/>
            <a:r>
              <a:t>次回アポ取得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26880" y="4389120"/>
            <a:ext cx="2560320" cy="1097280"/>
          </a:xfrm>
          <a:prstGeom prst="roundRect">
            <a:avLst/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20" y="443484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  <a:latin typeface="Meiryo"/>
              </a:defRPr>
            </a:pPr>
            <a:r>
              <a:t>トークスクリプト: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46634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6B6D4"/>
                </a:solidFill>
                <a:latin typeface="Meiryo"/>
              </a:defRPr>
            </a:pPr>
            <a:r>
              <a:t>「詳細なレポートを</a:t>
            </a:r>
            <a:br/>
            <a:r>
              <a:t>お送りいたします」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eiryo"/>
              </a:defRPr>
            </a:pPr>
            <a:r>
              <a:t>ツールの操作は合計5分程度。商談の自然な流れの中でシームレスに活用できます。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eiryo"/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Meiryo"/>
              </a:defRPr>
            </a:pPr>
            <a:r>
              <a:t>ROADMAP &amp;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開発ロードマップ &amp; まとめ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33832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965960"/>
            <a:ext cx="640080" cy="2743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842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eiryo"/>
              </a:defRPr>
            </a:pPr>
            <a:r>
              <a:t>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965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eiryo"/>
              </a:defRPr>
            </a:pPr>
            <a:r>
              <a:t>MVP（現在）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2316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eiryo"/>
              </a:defRPr>
            </a:pPr>
            <a:r>
              <a:t>入力UI / ROIダッシュボード / シナリオ比較</a:t>
            </a:r>
            <a:br/>
            <a:r>
              <a:t>業種テンプレート / 感度分析 / 導入比較グラフ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737360"/>
            <a:ext cx="33832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1737360"/>
            <a:ext cx="338328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39" y="1965960"/>
            <a:ext cx="64008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39" y="19842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eiryo"/>
              </a:defRPr>
            </a:pPr>
            <a:r>
              <a:t>v1.1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399" y="1965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eiryo"/>
              </a:defRPr>
            </a:pPr>
            <a:r>
              <a:t>次期アップデート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242316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eiryo"/>
              </a:defRPr>
            </a:pPr>
            <a:r>
              <a:t>AI適用領域マッピング / 導入ロードマップ</a:t>
            </a:r>
            <a:br/>
            <a:r>
              <a:t>PDF出力 / ケーススタディ / 共有リンク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737360"/>
            <a:ext cx="33832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737360"/>
            <a:ext cx="33832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12480" y="1965960"/>
            <a:ext cx="640080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9842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eiryo"/>
              </a:defRPr>
            </a:pPr>
            <a:r>
              <a:t>v2.0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965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eiryo"/>
              </a:defRPr>
            </a:pPr>
            <a:r>
              <a:t>将来構想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42316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eiryo"/>
              </a:defRPr>
            </a:pPr>
            <a:r>
              <a:t>LLMによるエグゼクティブサマリー自動生成</a:t>
            </a:r>
            <a:br/>
            <a:r>
              <a:t>AIが試算結果を分析し考察を提供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114800"/>
            <a:ext cx="10698480" cy="2286000"/>
          </a:xfrm>
          <a:prstGeom prst="roundRect">
            <a:avLst/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114800"/>
            <a:ext cx="106984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343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eiryo"/>
              </a:defRPr>
            </a:pPr>
            <a:r>
              <a:t>AI-ROI Simulator が実現すること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9377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4937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eiryo"/>
              </a:defRPr>
            </a:pPr>
            <a:r>
              <a:t>初回商談で即座にROI試算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5212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eiryo"/>
              </a:defRPr>
            </a:pPr>
            <a:r>
              <a:t>「御社の場合」という具体的な数字で経営層を動かす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577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5577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eiryo"/>
              </a:defRPr>
            </a:pPr>
            <a:r>
              <a:t>3シナリオの透明な提示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5852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eiryo"/>
              </a:defRPr>
            </a:pPr>
            <a:r>
              <a:t>保守的でも効果がある」と証明し、信頼を獲得する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9377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4937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eiryo"/>
              </a:defRPr>
            </a:pPr>
            <a:r>
              <a:t>インタラクティブな探索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5212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eiryo"/>
              </a:defRPr>
            </a:pPr>
            <a:r>
              <a:t>What-if分析にリアルタイムで対応し、専門性を示す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577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5577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eiryo"/>
              </a:defRPr>
            </a:pPr>
            <a:r>
              <a:t>日本市場初のWebツール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5852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eiryo"/>
              </a:defRPr>
            </a:pPr>
            <a:r>
              <a:t>競合コンサルタントとの決定的な差別化を実現する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eiryo"/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