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AI導入なし（コスト推移）</c:v>
                </c:pt>
              </c:strCache>
            </c:strRef>
          </c:tx>
          <c:spPr>
            <a:ln w="38100">
              <a:solidFill>
                <a:srgbClr val="94A3B8"/>
              </a:solidFill>
            </a:ln>
          </c:spPr>
          <c:cat>
            <c:strRef>
              <c:f>Sheet1!$A$2:$A$6</c:f>
              <c:strCache>
                <c:ptCount val="5"/>
                <c:pt idx="0">
                  <c:v>1年目</c:v>
                </c:pt>
                <c:pt idx="1">
                  <c:v>2年目</c:v>
                </c:pt>
                <c:pt idx="2">
                  <c:v>3年目</c:v>
                </c:pt>
                <c:pt idx="3">
                  <c:v>4年目</c:v>
                </c:pt>
                <c:pt idx="4">
                  <c:v>5年目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102</c:v>
                </c:pt>
                <c:pt idx="2">
                  <c:v>104</c:v>
                </c:pt>
                <c:pt idx="3">
                  <c:v>106</c:v>
                </c:pt>
                <c:pt idx="4">
                  <c:v>108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AI導入あり（コスト推移）</c:v>
                </c:pt>
              </c:strCache>
            </c:strRef>
          </c:tx>
          <c:spPr>
            <a:ln w="38100">
              <a:solidFill>
                <a:srgbClr val="2563EB"/>
              </a:solidFill>
            </a:ln>
          </c:spPr>
          <c:cat>
            <c:strRef>
              <c:f>Sheet1!$A$2:$A$6</c:f>
              <c:strCache>
                <c:ptCount val="5"/>
                <c:pt idx="0">
                  <c:v>1年目</c:v>
                </c:pt>
                <c:pt idx="1">
                  <c:v>2年目</c:v>
                </c:pt>
                <c:pt idx="2">
                  <c:v>3年目</c:v>
                </c:pt>
                <c:pt idx="3">
                  <c:v>4年目</c:v>
                </c:pt>
                <c:pt idx="4">
                  <c:v>5年目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</c:v>
                </c:pt>
                <c:pt idx="1">
                  <c:v>78</c:v>
                </c:pt>
                <c:pt idx="2">
                  <c:v>72</c:v>
                </c:pt>
                <c:pt idx="3">
                  <c:v>68</c:v>
                </c:pt>
                <c:pt idx="4">
                  <c:v>65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累計コスト削減効果</c:v>
                </c:pt>
              </c:strCache>
            </c:strRef>
          </c:tx>
          <c:spPr>
            <a:ln w="38100">
              <a:solidFill>
                <a:srgbClr val="059669"/>
              </a:solidFill>
            </a:ln>
          </c:spPr>
          <c:cat>
            <c:strRef>
              <c:f>Sheet1!$A$2:$A$6</c:f>
              <c:strCache>
                <c:ptCount val="5"/>
                <c:pt idx="0">
                  <c:v>1年目</c:v>
                </c:pt>
                <c:pt idx="1">
                  <c:v>2年目</c:v>
                </c:pt>
                <c:pt idx="2">
                  <c:v>3年目</c:v>
                </c:pt>
                <c:pt idx="3">
                  <c:v>4年目</c:v>
                </c:pt>
                <c:pt idx="4">
                  <c:v>5年目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39</c:v>
                </c:pt>
                <c:pt idx="2">
                  <c:v>71</c:v>
                </c:pt>
                <c:pt idx="3">
                  <c:v>109</c:v>
                </c:pt>
                <c:pt idx="4">
                  <c:v>152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47556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120640"/>
            <a:ext cx="41148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E293B"/>
                </a:solidFill>
                <a:latin typeface="Meiryo"/>
              </a:defRPr>
            </a:pPr>
            <a:r>
              <a:t>AI-ROI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563EB"/>
                </a:solidFill>
                <a:latin typeface="Meiryo"/>
              </a:defRPr>
            </a:pPr>
            <a:r>
              <a:t>AI導入ROI試算ツール  |  機能説明 &amp; 使い方ガイド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eiryo"/>
              </a:defRPr>
            </a:pPr>
            <a:r>
              <a:t>初回商談でクライアントに「御社のAI導入ROI」を即座にシミュレーション。</a:t>
            </a:r>
            <a:br/>
            <a:r>
              <a:t>提案の説得力を劇的に高める、AIコンサルタント専用ツールです。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320040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49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AI Transformation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Meiryo"/>
              </a:defRPr>
            </a:pPr>
            <a:r>
              <a:t>Version 1.0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AI-ROI Simulator とは？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eiryo"/>
              </a:defRPr>
            </a:pPr>
            <a:r>
              <a:t>クライアントの業種・規模・対象業務を入力するだけで、AI導入の投資対効果（ROI）を即座に試算。</a:t>
            </a:r>
            <a:br/>
            <a:r>
              <a:t>3つのシナリオ比較とインタラクティブな感度分析で、経営層の意思決定を後押しするWebツールです。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383280" cy="2926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338328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Meiryo"/>
              </a:defRPr>
            </a:pPr>
            <a:r>
              <a:t>商談クロージングツール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初回商談30分で「御社のAI導入ROI」をリアルタイムにシミュレーション。数字の力で次回アポ・受注を引き出します。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383280" cy="292608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743200"/>
            <a:ext cx="3383280" cy="4572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017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591B3"/>
                </a:solidFill>
                <a:latin typeface="Meiryo"/>
              </a:defRPr>
            </a:pPr>
            <a:r>
              <a:t>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52044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React + TypeScript で構築されたプロフェッショナルなWebアプリ。AI変革アーキテクトとしての技術力の証明です。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743200"/>
            <a:ext cx="3383280" cy="2926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743200"/>
            <a:ext cx="3383280" cy="45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017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59669"/>
                </a:solidFill>
                <a:latin typeface="Meiryo"/>
              </a:defRPr>
            </a:pPr>
            <a:r>
              <a:t>差別化の武器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2044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日本市場初のインタラクティブAI ROIシミュレーター。競合コンサルタントとの決定的な差別化要因になります。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「この数字の根拠は？」に即座に答えられる — 前提条件の完全な透明性を確保したツール設計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戦略的ポジショニング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4864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91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626"/>
                </a:solidFill>
                <a:latin typeface="Meiryo"/>
              </a:defRPr>
            </a:pPr>
            <a: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多くのAIコンサルタントが「AI導入で効率化できます」と定性的に提案。</a:t>
            </a:r>
            <a:br/>
            <a:r>
              <a:t>クライアント経営層は「で、いくら儲かるの？」という定量的な回答を求めている。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10728655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017520"/>
            <a:ext cx="54864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eiryo"/>
              </a:defRPr>
            </a:pPr>
            <a:r>
              <a:t>解決策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2044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初回商談の場で、クライアント固有の条件に基づいたROI試算を即座に提示。</a:t>
            </a:r>
            <a:br/>
            <a:r>
              <a:t>「御社の場合、年間2,400万円のコスト削減が見込めます」— この具体性が他社との違いを生む。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80560"/>
            <a:ext cx="10728655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480560"/>
            <a:ext cx="54864" cy="1234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669"/>
                </a:solidFill>
                <a:latin typeface="Meiryo"/>
              </a:defRPr>
            </a:pPr>
            <a:r>
              <a:t>実績の裏付け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98348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Amazon Japan広告部門でROAS 30%改善・累計売上18億円の実績。</a:t>
            </a:r>
            <a:br/>
            <a:r>
              <a:t>5社へのAI導入支援で各社1,000万円以上の成果。これらをベンチマークに組み込み。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主要機能一覧（MVP 6機能）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2103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29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0992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パラメータ入力UI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業種・規模・対象業務をステッパー形式で入力。</a:t>
            </a:r>
            <a:br/>
            <a:r>
              <a:t>商談の流れに沿ったガイド付きフォーム。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83280" cy="2103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1691640"/>
            <a:ext cx="502920" cy="274320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0992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F2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691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ROIダッシュボード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1488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ヒーローナンバー + KPIカード + グラフで</a:t>
            </a:r>
            <a:br/>
            <a:r>
              <a:t>試算結果を一目で把握。30秒で理解可能。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08760"/>
            <a:ext cx="3383280" cy="2103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691640"/>
            <a:ext cx="50292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70992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F3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1691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3シナリオ比較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保守的 / 標準 / 楽観的の3シナリオを</a:t>
            </a:r>
            <a:br/>
            <a:r>
              <a:t>並列表示。信頼性と説得力の両立。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86200"/>
            <a:ext cx="3383280" cy="2103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4069080"/>
            <a:ext cx="502920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F4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069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業種別テンプレート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5262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10業種のプリセットパラメータ。</a:t>
            </a:r>
            <a:br/>
            <a:r>
              <a:t>業種選択だけで即座に試算を開始。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886200"/>
            <a:ext cx="3383280" cy="2103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0" y="4069080"/>
            <a:ext cx="5029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08736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F9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069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感度分析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5262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スライダー操作でROIがリアルタイム変動。</a:t>
            </a:r>
            <a:br/>
            <a:r>
              <a:t>Excelでは不可能なインタラクティブ体験。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886200"/>
            <a:ext cx="3383280" cy="2103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0" y="4069080"/>
            <a:ext cx="502920" cy="274320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08736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F11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069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導入あり/なし比較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5262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AI導入前後の3〜5年推移グラフ。</a:t>
            </a:r>
            <a:br/>
            <a:r>
              <a:t>経営層が最も直感的に理解できる表示。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 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パラメータ入力UI — 二段構え設計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389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4A3B8"/>
                </a:solidFill>
                <a:latin typeface="Meiryo"/>
              </a:defRPr>
            </a:pPr>
            <a:r>
              <a:t>入力フォーム（イメージ）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業種を選択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331720"/>
            <a:ext cx="41148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35915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eiryo"/>
              </a:defRPr>
            </a:pPr>
            <a:r>
              <a:t>製造業 / 小売・EC / 金融 / IT / 医療 / 物流 / 不動産 / 教育 / メディア / 専門サービス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従業員数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41148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1927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eiryo"/>
              </a:defRPr>
            </a:pPr>
            <a:r>
              <a:t>〜50名 / 51-200名 / 201-500名 / 501-1,000名 / 1,001-5,000名 / 5,001名〜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年間売上規模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251960"/>
            <a:ext cx="41148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27939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eiryo"/>
              </a:defRPr>
            </a:pPr>
            <a:r>
              <a:t>〜1億円 / 1-10億円 / 10-50億円 / 50-100億円 / 100-500億円 / 500億円〜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AI導入対象業務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5212080"/>
            <a:ext cx="41148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23951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eiryo"/>
              </a:defRPr>
            </a:pPr>
            <a:r>
              <a:t>カスタマーサポート / 営業・マーケ / データ分析 / 文書管理 / 経理 / 人事 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eiryo"/>
              </a:defRPr>
            </a:pPr>
            <a:r>
              <a:t>設計のポイント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02920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2057400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二段構え設計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必須入力（4項目）だけで概算ROIが出ます。</a:t>
            </a:r>
            <a:br/>
            <a:r>
              <a:t>任意入力でさらに精度を上げることが可能。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154679"/>
            <a:ext cx="5029200" cy="9144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154679"/>
            <a:ext cx="4572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24611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Meiryo"/>
              </a:defRPr>
            </a:pPr>
            <a:r>
              <a:t>商談で聞ける範囲のみ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204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必須項目はすべて初回商談のヒアリングで</a:t>
            </a:r>
            <a:br/>
            <a:r>
              <a:t>自然に聞ける情報に限定しています。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251960"/>
            <a:ext cx="5029200" cy="9144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251960"/>
            <a:ext cx="4572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業種テンプレート連動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617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業種を選ぶと典型的なパラメータが自動で</a:t>
            </a:r>
            <a:br/>
            <a:r>
              <a:t>プリセット。入力の手間を最小化。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5349239"/>
            <a:ext cx="5029200" cy="9144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5349239"/>
            <a:ext cx="45720" cy="91440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44067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1B3"/>
                </a:solidFill>
                <a:latin typeface="Meiryo"/>
              </a:defRPr>
            </a:pPr>
            <a:r>
              <a:t>リアルタイムプレビュー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71499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入力と同時にプレビューが更新。</a:t>
            </a:r>
            <a:br/>
            <a:r>
              <a:t>商談中のテンポを損なわない設計。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 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ROIダッシュボード — 30秒で伝わるUI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御社のAI導入による年間効果（標準シナリオ）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059669"/>
                </a:solidFill>
                <a:latin typeface="Meiryo"/>
              </a:defRPr>
            </a:pPr>
            <a:r>
              <a:t>¥ 2,400 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eiryo"/>
              </a:defRPr>
            </a:pPr>
            <a:r>
              <a:t>年間コスト削減額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2468880" cy="1097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00400"/>
            <a:ext cx="24688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3年ROI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563EB"/>
                </a:solidFill>
                <a:latin typeface="Meiryo"/>
              </a:defRPr>
            </a:pPr>
            <a:r>
              <a:t>320%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200400"/>
            <a:ext cx="2468880" cy="109728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3200400"/>
            <a:ext cx="2468880" cy="36576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投資回収期間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611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91B3"/>
                </a:solidFill>
                <a:latin typeface="Meiryo"/>
              </a:defRPr>
            </a:pPr>
            <a:r>
              <a:t>8.5 ヶ月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00400"/>
            <a:ext cx="2468880" cy="1097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200400"/>
            <a:ext cx="24688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3375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年間売上増加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9669"/>
                </a:solidFill>
                <a:latin typeface="Meiryo"/>
              </a:defRPr>
            </a:pPr>
            <a:r>
              <a:t>¥1,800万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200400"/>
            <a:ext cx="2468880" cy="10972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3200400"/>
            <a:ext cx="246888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33375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FTE換算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D97706"/>
                </a:solidFill>
                <a:latin typeface="Meiryo"/>
              </a:defRPr>
            </a:pPr>
            <a:r>
              <a:t>3.2 人分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「30秒ルール」— 経営層が画面を見て30秒で「うちにとっての効果」を理解できるUI設計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2920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最上部のヒーローナンバーで最も重要な数字を大きく表示し、KPIカードで主要指標を一覧表示します。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3949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すべての数字はクライアントが入力した情報に基づくパーソナライズされた試算です。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7607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※ 試算値は公開調査レポートおよび類似プロジェクト実績に基づく推定値です。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  F3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3シナリオ比較 — 信頼性の防御線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3383280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4A3B8"/>
                </a:solidFill>
                <a:latin typeface="Meiryo"/>
              </a:defRPr>
            </a:pPr>
            <a:r>
              <a:t>保守的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eiryo"/>
              </a:defRPr>
            </a:pPr>
            <a:r>
              <a:t>Conservative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年間効果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14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¥1,200万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3年ROI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1089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180%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03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回収期間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03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14ヶ月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最低限期待できる効果。</a:t>
            </a:r>
            <a:br/>
            <a:r>
              <a:t>すべてのパラメータに</a:t>
            </a:r>
            <a:br/>
            <a:r>
              <a:t>下限値を適用。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508760"/>
            <a:ext cx="338328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1508760"/>
            <a:ext cx="338328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  <a:latin typeface="Meiryo"/>
              </a:defRPr>
            </a:pPr>
            <a:r>
              <a:t>標準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0574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eiryo"/>
              </a:defRPr>
            </a:pPr>
            <a:r>
              <a:t>Standard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514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年間効果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514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¥2,400万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108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3年ROI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1089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320%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703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回収期間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703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8.5ヶ月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43484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一般的に期待できる効果。</a:t>
            </a:r>
            <a:br/>
            <a:r>
              <a:t>業界平均の</a:t>
            </a:r>
            <a:br/>
            <a:r>
              <a:t>ベンチマーク値を適用。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508760"/>
            <a:ext cx="3383280" cy="4114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508760"/>
            <a:ext cx="3383280" cy="45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eiryo"/>
              </a:defRPr>
            </a:pPr>
            <a:r>
              <a:t>楽観的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0574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eiryo"/>
              </a:defRPr>
            </a:pPr>
            <a:r>
              <a:t>Optimistic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514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年間効果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51460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¥4,100万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108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3年ROI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1089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580%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703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回収期間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3703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1E293B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43484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最大限の効果が出た場合。</a:t>
            </a:r>
            <a:br/>
            <a:r>
              <a:t>すべてのパラメータに</a:t>
            </a:r>
            <a:br/>
            <a:r>
              <a:t>上限値を適用。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「保守的に見積もっても年間1,200万円の効果が見込めます」— この一言がクライアントの信頼を勝ち取る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  F9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感度分析 — Excelとの決定的な違い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114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4A3B8"/>
                </a:solidFill>
                <a:latin typeface="Meiryo"/>
              </a:defRPr>
            </a:pPr>
            <a:r>
              <a:t>スライダー操作（イメージ）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AI自動化率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0574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2563EB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350008"/>
            <a:ext cx="4114800" cy="10972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350008"/>
            <a:ext cx="2057400" cy="10972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導入投資額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9718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591B3"/>
                </a:solidFill>
                <a:latin typeface="Meiryo"/>
              </a:defRPr>
            </a:pPr>
            <a:r>
              <a:t>¥2,000万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264408"/>
            <a:ext cx="4114800" cy="10972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3264408"/>
            <a:ext cx="1645920" cy="109728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効果発現期間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8862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59669"/>
                </a:solidFill>
                <a:latin typeface="Meiryo"/>
              </a:defRPr>
            </a:pPr>
            <a:r>
              <a:t>6ヶ月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178808"/>
            <a:ext cx="4114800" cy="10972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4178808"/>
            <a:ext cx="1440180" cy="109728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年間運用費率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006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97706"/>
                </a:solidFill>
                <a:latin typeface="Meiryo"/>
              </a:defRPr>
            </a:pPr>
            <a:r>
              <a:t>25%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093208"/>
            <a:ext cx="4114800" cy="10972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5093208"/>
            <a:ext cx="2057400" cy="10972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eiryo"/>
              </a:defRPr>
            </a:pPr>
            <a:r>
              <a:t>この機能の価値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057400"/>
            <a:ext cx="50292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057400"/>
            <a:ext cx="45720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リアルタイム更新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スライダーを動かすと、グラフとKPIが</a:t>
            </a:r>
            <a:br/>
            <a:r>
              <a:t>即座に更新されます。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108960"/>
            <a:ext cx="50292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108960"/>
            <a:ext cx="45720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200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Meiryo"/>
              </a:defRPr>
            </a:pPr>
            <a:r>
              <a:t>What-if対応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「もし自動化率がもう少し低かったら？」</a:t>
            </a:r>
            <a:br/>
            <a:r>
              <a:t>その場で答えを見せられます。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160520"/>
            <a:ext cx="50292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160520"/>
            <a:ext cx="45720" cy="86868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1B3"/>
                </a:solidFill>
                <a:latin typeface="Meiryo"/>
              </a:defRPr>
            </a:pPr>
            <a:r>
              <a:t>影響度の可視化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526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各パラメータがROIに与える影響度を</a:t>
            </a:r>
            <a:br/>
            <a:r>
              <a:t>トルネードチャートで表示。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212080"/>
            <a:ext cx="50292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5212080"/>
            <a:ext cx="45720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5303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Excel操作不要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クリック＆ドラッグだけで探索完了。</a:t>
            </a:r>
            <a:br/>
            <a:r>
              <a:t>商談中にExcelを開く必要なし。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  F11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導入あり/なし比較 — 5年推移グラフ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508760"/>
          <a:ext cx="685800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Meiryo"/>
              </a:defRPr>
            </a:pPr>
            <a:r>
              <a:t>グラフの読み方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057400"/>
            <a:ext cx="4572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19456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4A3B8"/>
                </a:solidFill>
                <a:latin typeface="Meiryo"/>
              </a:defRPr>
            </a:pPr>
            <a:r>
              <a:t>グレーの線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423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AI未導入の場合のコスト推移</a:t>
            </a:r>
            <a:br/>
            <a:r>
              <a:t>（現状維持シナリオ）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4572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004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Meiryo"/>
              </a:defRPr>
            </a:pPr>
            <a:r>
              <a:t>ブルーの線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4290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AI導入後のコスト推移</a:t>
            </a:r>
            <a:br/>
            <a:r>
              <a:t>（削減効果を反映）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4069080"/>
            <a:ext cx="45720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2062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669"/>
                </a:solidFill>
                <a:latin typeface="Meiryo"/>
              </a:defRPr>
            </a:pPr>
            <a:r>
              <a:t>グリーンの線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434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累計コスト削減効果</a:t>
            </a:r>
            <a:br/>
            <a:r>
              <a:t>（差額の積み上げ）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5720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経営層が最も直感的に理解できる</a:t>
            </a:r>
            <a:br/>
            <a:r>
              <a:t>「Before / After」の可視化です。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FEATURE 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業種別テンプレート — ワンクリックで試算開始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Meiryo"/>
              </a:defRPr>
            </a:pPr>
            <a:r>
              <a:t>10業種に対応したプリセットパラメータを搭載。業種を選ぶだけで、その業種に典型的な</a:t>
            </a:r>
            <a:br/>
            <a:r>
              <a:t>AI導入シナリオが自動的にセットされ、すぐに試算を開始できます。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20116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製造業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品質管理、SCM最適化、</a:t>
            </a:r>
            <a:br/>
            <a:r>
              <a:t>予知保全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4688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2468880"/>
            <a:ext cx="20116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Meiryo"/>
              </a:defRPr>
            </a:pPr>
            <a:r>
              <a:t>小売・EC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71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需要予測、パーソナライズ、</a:t>
            </a:r>
            <a:br/>
            <a:r>
              <a:t>在庫最適化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4688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0" y="2468880"/>
            <a:ext cx="2011680" cy="36576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1B3"/>
                </a:solidFill>
                <a:latin typeface="Meiryo"/>
              </a:defRPr>
            </a:pPr>
            <a:r>
              <a:t>金融・保険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71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審査自動化、不正検知、</a:t>
            </a:r>
            <a:br/>
            <a:r>
              <a:t>事務処理効率化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199" y="24688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199" y="2468880"/>
            <a:ext cx="201168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IT・通信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971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コード生成支援、</a:t>
            </a:r>
            <a:br/>
            <a:r>
              <a:t>テスト自動化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4688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9760" y="2468880"/>
            <a:ext cx="20116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医療・HC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971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画像診断支援、</a:t>
            </a:r>
            <a:br/>
            <a:r>
              <a:t>文書作成自動化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2976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297680"/>
            <a:ext cx="20116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434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Meiryo"/>
              </a:defRPr>
            </a:pPr>
            <a:r>
              <a:t>物流・運輸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00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ルート最適化、</a:t>
            </a:r>
            <a:br/>
            <a:r>
              <a:t>配車計画、倉庫管理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42976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26080" y="4297680"/>
            <a:ext cx="2011680" cy="36576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4434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1B3"/>
                </a:solidFill>
                <a:latin typeface="Meiryo"/>
              </a:defRPr>
            </a:pPr>
            <a:r>
              <a:t>不動産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800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物件査定自動化、</a:t>
            </a:r>
            <a:br/>
            <a:r>
              <a:t>営業効率化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20640" y="42976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0" y="4297680"/>
            <a:ext cx="201168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0" y="4434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教育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4800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コンテンツ生成、</a:t>
            </a:r>
            <a:br/>
            <a:r>
              <a:t>個別指導最適化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199" y="42976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199" y="4297680"/>
            <a:ext cx="20116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79" y="4434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メディア・広告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800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広告最適化、</a:t>
            </a:r>
            <a:br/>
            <a:r>
              <a:t>クリエイティブ生成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4297680"/>
            <a:ext cx="2011680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4297680"/>
            <a:ext cx="20116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0" y="4434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Meiryo"/>
              </a:defRPr>
            </a:pPr>
            <a:r>
              <a:t>専門サービス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48006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ナレッジ管理、</a:t>
            </a:r>
            <a:br/>
            <a:r>
              <a:t>リサーチ自動化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HOW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使い方：5ステップで即座にROI試算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508760"/>
            <a:ext cx="10972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Meiryo"/>
              </a:defRPr>
            </a:pPr>
            <a:r>
              <a:t>業種・規模を入力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2011680" cy="1371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75569"/>
                </a:solidFill>
                <a:latin typeface="Meiryo"/>
              </a:defRPr>
            </a:pPr>
            <a:r>
              <a:t>業種、従業員数、売上規模、</a:t>
            </a:r>
            <a:br/>
            <a:r>
              <a:t>対象業務を選択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08760"/>
            <a:ext cx="1097280" cy="365760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Meiryo"/>
              </a:defRPr>
            </a:pPr>
            <a:r>
              <a:t>ROI結果を確認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2514600"/>
            <a:ext cx="2011680" cy="1371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26517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75569"/>
                </a:solidFill>
                <a:latin typeface="Meiryo"/>
              </a:defRPr>
            </a:pPr>
            <a:r>
              <a:t>ヒーローナンバーと</a:t>
            </a:r>
            <a:br/>
            <a:r>
              <a:t>KPIカードで即座に把握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508760"/>
            <a:ext cx="109728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Meiryo"/>
              </a:defRPr>
            </a:pPr>
            <a:r>
              <a:t>シナリオ比較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2514600"/>
            <a:ext cx="2011680" cy="1371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26517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75569"/>
                </a:solidFill>
                <a:latin typeface="Meiryo"/>
              </a:defRPr>
            </a:pPr>
            <a:r>
              <a:t>保守的/標準/楽観的の</a:t>
            </a:r>
            <a:br/>
            <a:r>
              <a:t>3パターンを比較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9560" y="1508760"/>
            <a:ext cx="109728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956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Meiryo"/>
              </a:defRPr>
            </a:pPr>
            <a:r>
              <a:t>感度分析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2514600"/>
            <a:ext cx="2011680" cy="1371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26517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75569"/>
                </a:solidFill>
                <a:latin typeface="Meiryo"/>
              </a:defRPr>
            </a:pPr>
            <a:r>
              <a:t>スライダーでパラメータを</a:t>
            </a:r>
            <a:br/>
            <a:r>
              <a:t>調整し探索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1508760"/>
            <a:ext cx="10972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Step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Meiryo"/>
              </a:defRPr>
            </a:pPr>
            <a:r>
              <a:t>将来推移を確認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2514600"/>
            <a:ext cx="2011680" cy="1371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0" y="26517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75569"/>
                </a:solidFill>
                <a:latin typeface="Meiryo"/>
              </a:defRPr>
            </a:pPr>
            <a:r>
              <a:t>3〜5年の導入効果推移を</a:t>
            </a:r>
            <a:br/>
            <a:r>
              <a:t>グラフで提示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114800"/>
            <a:ext cx="10728655" cy="2011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297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eiryo"/>
              </a:defRPr>
            </a:pPr>
            <a:r>
              <a:t>商談での操作は合計5分程度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7091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1. クライアントへのヒアリングと並行して業種・規模を選択（1分）</a:t>
            </a:r>
            <a:br/>
            <a:r>
              <a:t>2. 対象業務を選択し、ROIダッシュボードの結果を見せる（1分）</a:t>
            </a:r>
            <a:br/>
            <a:r>
              <a:t>3. 3シナリオを比較し、保守的シナリオの数字を強調（1分）</a:t>
            </a:r>
            <a:br/>
            <a:r>
              <a:t>4. 「もし○○だったら？」の質問にスライダーで即答（1分）</a:t>
            </a:r>
            <a:br/>
            <a:r>
              <a:t>5. 5年推移グラフで長期的な効果を提示し、クロージングへ（1分）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USE CASE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活用シーン：初回オンライン商談（30分）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508760"/>
            <a:ext cx="1280160" cy="32004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361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0-5分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4A3B8"/>
                </a:solidFill>
                <a:latin typeface="Meiryo"/>
              </a:defRPr>
            </a:pPr>
            <a:r>
              <a:t>ヒアリング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256032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自己紹介と課題のヒアリング。</a:t>
            </a:r>
            <a:br/>
            <a:r>
              <a:t>ツールはまだ使わず、</a:t>
            </a:r>
            <a:br/>
            <a:r>
              <a:t>クライアントの話に集中。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40"/>
            <a:ext cx="2560320" cy="10058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233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Meiryo"/>
              </a:defRPr>
            </a:pPr>
            <a:r>
              <a:t>トークスクリプト: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563EB"/>
                </a:solidFill>
                <a:latin typeface="Meiryo"/>
              </a:defRPr>
            </a:pPr>
            <a:r>
              <a:t>「御社ではAIの導入を</a:t>
            </a:r>
            <a:br/>
            <a:r>
              <a:t>ご検討されていますか？」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1508760"/>
            <a:ext cx="128016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15361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5-15分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965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Meiryo"/>
              </a:defRPr>
            </a:pPr>
            <a:r>
              <a:t>課題特定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2331720"/>
            <a:ext cx="256032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24231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業種を選択し、AI適用可能な</a:t>
            </a:r>
            <a:br/>
            <a:r>
              <a:t>業務領域を一緒に特定。</a:t>
            </a:r>
            <a:br/>
            <a:r>
              <a:t>テンプレートで即座にセット。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3977640"/>
            <a:ext cx="2560320" cy="10058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0233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Meiryo"/>
              </a:defRPr>
            </a:pPr>
            <a:r>
              <a:t>トークスクリプト: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42062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563EB"/>
                </a:solidFill>
                <a:latin typeface="Meiryo"/>
              </a:defRPr>
            </a:pPr>
            <a:r>
              <a:t>「御社の業種では、この業務に</a:t>
            </a:r>
            <a:br/>
            <a:r>
              <a:t>AIが最も効果的です」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1508760"/>
            <a:ext cx="1280160" cy="3200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15361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15-25分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59669"/>
                </a:solidFill>
                <a:latin typeface="Meiryo"/>
              </a:defRPr>
            </a:pPr>
            <a:r>
              <a:t>ROI提示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331720"/>
            <a:ext cx="256032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24231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パラメータを入力し、</a:t>
            </a:r>
            <a:br/>
            <a:r>
              <a:t>リアルタイムでROI試算。</a:t>
            </a:r>
            <a:br/>
            <a:r>
              <a:t>感度分析で深堀り。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977640"/>
            <a:ext cx="2560320" cy="10058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0233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Meiryo"/>
              </a:defRPr>
            </a:pPr>
            <a:r>
              <a:t>トークスクリプト: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062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563EB"/>
                </a:solidFill>
                <a:latin typeface="Meiryo"/>
              </a:defRPr>
            </a:pPr>
            <a:r>
              <a:t>「御社の場合、年間2,400万円の</a:t>
            </a:r>
            <a:br/>
            <a:r>
              <a:t>効果が見込めます」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2880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1508760"/>
            <a:ext cx="1280160" cy="3200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15361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25-30分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1965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Meiryo"/>
              </a:defRPr>
            </a:pPr>
            <a:r>
              <a:t>クロージング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35440" y="2331720"/>
            <a:ext cx="256032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242316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3シナリオ比較と将来推移を</a:t>
            </a:r>
            <a:br/>
            <a:r>
              <a:t>提示。次回アポイントの取得。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3977640"/>
            <a:ext cx="2560320" cy="10058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40233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Meiryo"/>
              </a:defRPr>
            </a:pPr>
            <a:r>
              <a:t>トークスクリプト: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42062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563EB"/>
                </a:solidFill>
                <a:latin typeface="Meiryo"/>
              </a:defRPr>
            </a:pPr>
            <a:r>
              <a:t>「詳細なレポートを</a:t>
            </a:r>
            <a:br/>
            <a:r>
              <a:t>お送りいたします」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85216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ツール操作は合計5分。商談の自然な流れの中でシームレスに活用でき、プレゼン感を出さない。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1B3"/>
                </a:solidFill>
                <a:latin typeface="Meiryo"/>
              </a:defRPr>
            </a:pPr>
            <a:r>
              <a:t>USE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活用シーン：提案書（PPT）への埋め込み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Meiryo"/>
              </a:defRPr>
            </a:pPr>
            <a:r>
              <a:t>商談後にクライアントに送る提案書に、ROI試算結果のスクリーンショットを埋め込みます。</a:t>
            </a:r>
            <a:br/>
            <a:r>
              <a:t>社内稟議にそのまま使える品質のビジュアルを提供します。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5029200" cy="3657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提案書作成ワークフロー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商談中にツールでROI試算を実施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04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ダッシュボード画面をスクリーンショット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23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23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3シナリオ比較のスクリーンショットも取得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262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提案書のROIセクションにスクリーンショットを貼付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29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Meiryo"/>
              </a:defRPr>
            </a:pPr>
            <a:r>
              <a:t>前提条件と免責事項も併記して信頼性を担保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この活用シーンのメリット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34640"/>
            <a:ext cx="502920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834640"/>
            <a:ext cx="4572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9260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669"/>
                </a:solidFill>
                <a:latin typeface="Meiryo"/>
              </a:defRPr>
            </a:pPr>
            <a:r>
              <a:t>提案書作成時間 50%短縮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54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数字とグラフが自動生成されるため、</a:t>
            </a:r>
            <a:br/>
            <a:r>
              <a:t>Excelでの試算作業が不要に。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749039"/>
            <a:ext cx="502920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749039"/>
            <a:ext cx="4572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840479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Meiryo"/>
              </a:defRPr>
            </a:pPr>
            <a:r>
              <a:t>社内稟議に耐える品質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0690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プロフェッショナルなデザインで、</a:t>
            </a:r>
            <a:br/>
            <a:r>
              <a:t>クライアント社内の意思決定者にも訴求。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663440"/>
            <a:ext cx="502920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663440"/>
            <a:ext cx="45720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4754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97706"/>
                </a:solidFill>
                <a:latin typeface="Meiryo"/>
              </a:defRPr>
            </a:pPr>
            <a:r>
              <a:t>根拠の明確化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983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「この数字の根拠は？」に</a:t>
            </a:r>
            <a:br/>
            <a:r>
              <a:t>前提条件とデータソースで即答。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577840"/>
            <a:ext cx="502920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5577840"/>
            <a:ext cx="45720" cy="77724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56692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1B3"/>
                </a:solidFill>
                <a:latin typeface="Meiryo"/>
              </a:defRPr>
            </a:pPr>
            <a:r>
              <a:t>再現性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897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同じパラメータで何度でも</a:t>
            </a:r>
            <a:br/>
            <a:r>
              <a:t>同じ結果を再現。クライアントも確認可能。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Meiryo"/>
              </a:defRPr>
            </a:pPr>
            <a:r>
              <a:t>USE CASE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活用シーン：クライアントのセルフ利用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Meiryo"/>
              </a:defRPr>
            </a:pPr>
            <a:r>
              <a:t>商談後、クライアント自身がURLにアクセスし、自社のパラメータを入力して試算を体験。</a:t>
            </a:r>
            <a:br/>
            <a:r>
              <a:t>「自分ごと」として検討を深めてもらうフェーズです。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3383280" cy="3657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33832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eiryo"/>
              </a:defRPr>
            </a:pPr>
            <a:r>
              <a:t>商談後のフォロー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商談後にURLを共有。</a:t>
            </a:r>
            <a:br/>
            <a:r>
              <a:t>クライアントが自分の</a:t>
            </a:r>
            <a:br/>
            <a:r>
              <a:t>ペースで試算を探索。</a:t>
            </a:r>
            <a:br/>
            <a:br/>
            <a:r>
              <a:t>「ぜひご自身でも</a:t>
            </a:r>
            <a:br/>
            <a:r>
              <a:t>パラメータを変えて</a:t>
            </a:r>
            <a:br/>
            <a:r>
              <a:t>試してみてください」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383280" cy="3657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377440"/>
            <a:ext cx="33832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5603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669"/>
                </a:solidFill>
                <a:latin typeface="Meiryo"/>
              </a:defRPr>
            </a:pPr>
            <a:r>
              <a:t>社内検討の材料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1752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クライアントが社内の</a:t>
            </a:r>
            <a:br/>
            <a:r>
              <a:t>関係者に画面を共有。</a:t>
            </a:r>
            <a:br/>
            <a:r>
              <a:t>経営会議の資料として</a:t>
            </a:r>
            <a:br/>
            <a:r>
              <a:t>活用される可能性。</a:t>
            </a:r>
            <a:br/>
            <a:br/>
            <a:r>
              <a:t>→ 社内の味方を増やす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77440"/>
            <a:ext cx="3383280" cy="3657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377440"/>
            <a:ext cx="338328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5603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eiryo"/>
              </a:defRPr>
            </a:pPr>
            <a:r>
              <a:t>次回商談への布石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01752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クライアントが自ら</a:t>
            </a:r>
            <a:br/>
            <a:r>
              <a:t>試算した結果をもとに</a:t>
            </a:r>
            <a:br/>
            <a:r>
              <a:t>「もっと詳しく聞きたい」</a:t>
            </a:r>
            <a:br/>
            <a:r>
              <a:t>と次回アポにつながる。</a:t>
            </a:r>
            <a:br/>
            <a:br/>
            <a:r>
              <a:t>→ 能動的な受注につなげる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7706"/>
                </a:solidFill>
                <a:latin typeface="Meiryo"/>
              </a:defRPr>
            </a:pPr>
            <a:r>
              <a:t>USE CASE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活用シーン：受注後の効果測定ベースライン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Meiryo"/>
              </a:defRPr>
            </a:pPr>
            <a:r>
              <a:t>受注後のプロジェクトにおいて、ROI試算の結果をベースラインとして活用。</a:t>
            </a:r>
            <a:br/>
            <a:r>
              <a:t>「最初に試算した数字」と「実際の効果」を比較することで、プロジェクトの価値を可視化します。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5212080" cy="3474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eiryo"/>
              </a:defRPr>
            </a:pPr>
            <a:r>
              <a:t>ベースラインとしての活用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563EB"/>
                </a:solidFill>
                <a:latin typeface="Meiryo"/>
              </a:defRPr>
            </a:pPr>
            <a: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プロジェクト開始時に「標準シナリオ」の試算値をKPIとして設定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563EB"/>
                </a:solidFill>
                <a:latin typeface="Meiryo"/>
              </a:defRPr>
            </a:pPr>
            <a: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5204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月次・四半期ごとに実績値と試算値を比較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23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563EB"/>
                </a:solidFill>
                <a:latin typeface="Meiryo"/>
              </a:defRPr>
            </a:pPr>
            <a: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試算値を上回った場合 → 成果をアピールし継続案件へ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26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563EB"/>
                </a:solidFill>
                <a:latin typeface="Meiryo"/>
              </a:defRPr>
            </a:pPr>
            <a: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526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試算値を下回った場合 → 要因分析と改善提案で信頼を維持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292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563EB"/>
                </a:solidFill>
                <a:latin typeface="Meiryo"/>
              </a:defRPr>
            </a:pPr>
            <a: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最終報告書に「試算 vs 実績」の比較グラフを掲載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377440"/>
            <a:ext cx="5029200" cy="34747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eiryo"/>
              </a:defRPr>
            </a:pPr>
            <a:r>
              <a:t>継続案件につなげる効果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0175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信頼性の証明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291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「言った通りの効果が出た」=</a:t>
            </a:r>
            <a:br/>
            <a:r>
              <a:t>次の案件の最強の営業材料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追加提案の根拠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97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効果が出た業務を起点に、</a:t>
            </a:r>
            <a:br/>
            <a:r>
              <a:t>他業務へのAI展開を提案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029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長期リテーナー化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3035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Meiryo"/>
              </a:defRPr>
            </a:pPr>
            <a:r>
              <a:t>効果測定を継続するために</a:t>
            </a:r>
            <a:br/>
            <a:r>
              <a:t>月額顧問契約につなげる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ROI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ROI計算モデルの仕組み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2743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33832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eiryo"/>
              </a:defRPr>
            </a:pPr>
            <a:r>
              <a:t>Model A: コスト削減型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03120"/>
            <a:ext cx="3017520" cy="7315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563EB"/>
                </a:solidFill>
                <a:latin typeface="Consolas"/>
              </a:defRPr>
            </a:pPr>
            <a:r>
              <a:t>対象業務コスト × AI自動化率</a:t>
            </a:r>
            <a:br/>
            <a:r>
              <a:t>× 業種補正係数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175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Meiryo"/>
              </a:defRPr>
            </a:pPr>
            <a:r>
              <a:t>適用場面: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バックオフィス業務の自動化、</a:t>
            </a:r>
            <a:br/>
            <a:r>
              <a:t>問い合わせ対応の自動化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383280" cy="2743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08760"/>
            <a:ext cx="33832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691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669"/>
                </a:solidFill>
                <a:latin typeface="Meiryo"/>
              </a:defRPr>
            </a:pPr>
            <a:r>
              <a:t>Model B: 売上増加型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103120"/>
            <a:ext cx="3017520" cy="7315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148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563EB"/>
                </a:solidFill>
                <a:latin typeface="Consolas"/>
              </a:defRPr>
            </a:pPr>
            <a:r>
              <a:t>現在売上 × 対象業務売上貢献率</a:t>
            </a:r>
            <a:br/>
            <a:r>
              <a:t>× AI効果係数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175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Meiryo"/>
              </a:defRPr>
            </a:pPr>
            <a:r>
              <a:t>適用場面: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461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営業最適化、広告最適化、</a:t>
            </a:r>
            <a:br/>
            <a:r>
              <a:t>需要予測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508760"/>
            <a:ext cx="3383280" cy="27432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508760"/>
            <a:ext cx="3383280" cy="36576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691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1B3"/>
                </a:solidFill>
                <a:latin typeface="Meiryo"/>
              </a:defRPr>
            </a:pPr>
            <a:r>
              <a:t>Model C: 生産性向上型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2103120"/>
            <a:ext cx="3017520" cy="7315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1488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563EB"/>
                </a:solidFill>
                <a:latin typeface="Consolas"/>
              </a:defRPr>
            </a:pPr>
            <a:r>
              <a:t>削減時間 × FTE換算</a:t>
            </a:r>
            <a:br/>
            <a:r>
              <a:t>× 平均人件費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0175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Meiryo"/>
              </a:defRPr>
            </a:pPr>
            <a:r>
              <a:t>適用場面: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2461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すべての業務に適用可能な</a:t>
            </a:r>
            <a:br/>
            <a:r>
              <a:t>汎用モデル（FTE換算）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572000"/>
            <a:ext cx="1072865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54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複合ROI計算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074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563EB"/>
                </a:solidFill>
                <a:latin typeface="Consolas"/>
              </a:defRPr>
            </a:pPr>
            <a:r>
              <a:t>総合年間効果 = Σ（各対象業務の [コスト削減額 + 売上増加額 + 生産性向上額]）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349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563EB"/>
                </a:solidFill>
                <a:latin typeface="Consolas"/>
              </a:defRPr>
            </a:pPr>
            <a:r>
              <a:t>3年ROI = (総合年間効果 × 3 - AI導入投資合計) / AI導入投資合計 × 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6235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eiryo"/>
              </a:defRPr>
            </a:pPr>
            <a:r>
              <a:t>対象業務ごとに最適なモデルを自動選択し、重複を排除した上で総合効果を算出します。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TRUST &amp;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データの信頼性と根拠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685800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eiryo"/>
              </a:defRPr>
            </a:pPr>
            <a:r>
              <a:t>データソース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554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eiryo"/>
              </a:defRPr>
            </a:pPr>
            <a:r>
              <a:t>用途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eiryo"/>
              </a:defRPr>
            </a:pPr>
            <a:r>
              <a:t>信頼度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6858000" cy="34747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Meiryo"/>
              </a:defRPr>
            </a:pPr>
            <a:r>
              <a:t>McKinsey Global AI Survey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業種別AI導入効果の平均値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Meiryo"/>
              </a:defRPr>
            </a:pPr>
            <a:r>
              <a:t>★★★★★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304288"/>
            <a:ext cx="6858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500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Meiryo"/>
              </a:defRPr>
            </a:pPr>
            <a:r>
              <a:t>Accenture AI Profit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業種別利益率改善の予測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5000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Meiryo"/>
              </a:defRPr>
            </a:pPr>
            <a:r>
              <a:t>★★★★☆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88336"/>
            <a:ext cx="6858000" cy="34747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73405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Meiryo"/>
              </a:defRPr>
            </a:pPr>
            <a:r>
              <a:t>MIT Sloan Management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73405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企業規模別AI導入ROI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3405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Meiryo"/>
              </a:defRPr>
            </a:pPr>
            <a:r>
              <a:t>★★★★☆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72384"/>
            <a:ext cx="6858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11810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Meiryo"/>
              </a:defRPr>
            </a:pPr>
            <a:r>
              <a:t>IDC / Gartner Reports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31181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IT投資規模のベンチマーク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18104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Meiryo"/>
              </a:defRPr>
            </a:pPr>
            <a:r>
              <a:t>★★★★★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456432"/>
            <a:ext cx="6858000" cy="34747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502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Meiryo"/>
              </a:defRPr>
            </a:pPr>
            <a:r>
              <a:t>Deloitte AI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35021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業種別AI活用事例・効果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Meiryo"/>
              </a:defRPr>
            </a:pPr>
            <a:r>
              <a:t>★★★★☆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840480"/>
            <a:ext cx="6858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886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Meiryo"/>
              </a:defRPr>
            </a:pPr>
            <a:r>
              <a:t>自社5社AI導入実績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特定領域のキャリブレーション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8862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Meiryo"/>
              </a:defRPr>
            </a:pPr>
            <a:r>
              <a:t>★★★☆☆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1508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Meiryo"/>
              </a:defRPr>
            </a:pPr>
            <a:r>
              <a:t>信頼性を担保する4つの設計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1965960"/>
            <a:ext cx="36576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1965960"/>
            <a:ext cx="3657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2057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Meiryo"/>
              </a:defRPr>
            </a:pPr>
            <a:r>
              <a:t>3シナリオ比較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23134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楽観的な数字だけでなく、保守的</a:t>
            </a:r>
            <a:br/>
            <a:r>
              <a:t>シナリオを必ず並列で提示。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017520"/>
            <a:ext cx="36576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017520"/>
            <a:ext cx="36576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1089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669"/>
                </a:solidFill>
                <a:latin typeface="Meiryo"/>
              </a:defRPr>
            </a:pPr>
            <a:r>
              <a:t>前提条件の明示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364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すべての試算結果に計算の</a:t>
            </a:r>
            <a:br/>
            <a:r>
              <a:t>前提条件を表示。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0" y="4069080"/>
            <a:ext cx="36576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46720" y="4069080"/>
            <a:ext cx="36576" cy="86868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41605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1B3"/>
                </a:solidFill>
                <a:latin typeface="Meiryo"/>
              </a:defRPr>
            </a:pPr>
            <a:r>
              <a:t>データソース開示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4165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ベンチマーク値の出典を</a:t>
            </a:r>
            <a:br/>
            <a:r>
              <a:t>いつでも確認可能。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46720" y="5120639"/>
            <a:ext cx="36576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46720" y="5120639"/>
            <a:ext cx="36576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521207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97706"/>
                </a:solidFill>
                <a:latin typeface="Meiryo"/>
              </a:defRPr>
            </a:pPr>
            <a:r>
              <a:t>免責事項の表示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46811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Meiryo"/>
              </a:defRPr>
            </a:pPr>
            <a:r>
              <a:t>推定値であることを明記。</a:t>
            </a:r>
            <a:br/>
            <a:r>
              <a:t>コンサルとしての誠実さ。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競合との差別化ポイント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Meiryo"/>
              </a:defRPr>
            </a:pPr>
            <a:r>
              <a:t>市場調査の結果、日本語のインタラクティブAI ROIシミュレーターは存在しません。</a:t>
            </a:r>
            <a:br/>
            <a:r>
              <a:t>以下の8つの観点で、既存ツール・競合コンサルタントとの明確な差別化を実現します。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4572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450592"/>
            <a:ext cx="36576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9572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マルチ業種×マルチ業務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7004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10業種×10業務カテゴリの組み合わせ対応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28600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286000"/>
            <a:ext cx="4572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450592"/>
            <a:ext cx="36576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48716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39572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3シナリオ比較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67004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既存ツールのほとんどが単一シナリオのみ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4612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246120"/>
            <a:ext cx="45720" cy="77724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3410712"/>
            <a:ext cx="365760" cy="365760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4472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35584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インタラクティブ感度分析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63016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スライダーでリアルタイム変動する体験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24612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246120"/>
            <a:ext cx="45720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92240" y="3410712"/>
            <a:ext cx="36576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4472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335584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実績ベースのキャリブレーション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63016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5社のAI導入実績による精度補正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20624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4206240"/>
            <a:ext cx="4572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" y="4370832"/>
            <a:ext cx="36576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40740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1596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コンサル営業に最適化されたUX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459028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商談フローに沿ったステッパーUI設計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20624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4206240"/>
            <a:ext cx="4572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92240" y="4370832"/>
            <a:ext cx="36576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40740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31596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プレゼンテーション品質ビジュアル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59028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画面共有・スクショで映えるデザイン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16636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5166360"/>
            <a:ext cx="45720" cy="777240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4400" y="5330952"/>
            <a:ext cx="365760" cy="365760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36752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17320" y="527608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日本市場初のインタラクティブツール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17320" y="555040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日本語対応のWebツールは競合不在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09360" y="5166360"/>
            <a:ext cx="5212080" cy="777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9360" y="5166360"/>
            <a:ext cx="45720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492240" y="5330952"/>
            <a:ext cx="36576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536752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527608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前提条件の完全な透明性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555040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根拠とデータソースを全面開示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商談を成功させるための実践テクニック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Meiryo"/>
              </a:defRPr>
            </a:pPr>
            <a:r>
              <a:t>商談前の準備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4572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事前リサーチ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クライアントの業種・従業員数・売上規模を</a:t>
            </a:r>
            <a:br/>
            <a:r>
              <a:t>事前に調べ、テンプレートをプリセットしておく。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4572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Meiryo"/>
              </a:defRPr>
            </a:pPr>
            <a:r>
              <a:t>シナリオの想定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クライアントが関心を持ちそうな業務領域を</a:t>
            </a:r>
            <a:br/>
            <a:r>
              <a:t>2-3個想定し、入力の流れをシミュレーション。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4340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43400"/>
            <a:ext cx="4572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ネットワーク確認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商談前にツールの動作確認。</a:t>
            </a:r>
            <a:br/>
            <a:r>
              <a:t>万一に備えスクリーンショットも準備。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Meiryo"/>
              </a:defRPr>
            </a:pPr>
            <a:r>
              <a:t>商談中のコツ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6596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965960"/>
            <a:ext cx="4572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Meiryo"/>
              </a:defRPr>
            </a:pPr>
            <a:r>
              <a:t>保守的シナリオから見せる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3317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最初に保守的シナリオを提示し、</a:t>
            </a:r>
            <a:br/>
            <a:r>
              <a:t>「最低限でもこれだけ」と信頼を構築してから</a:t>
            </a:r>
            <a:br/>
            <a:r>
              <a:t>標準シナリオを見せる。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15468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154680"/>
            <a:ext cx="4572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246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Meiryo"/>
              </a:defRPr>
            </a:pPr>
            <a:r>
              <a:t>クライアントに操作させる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5204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可能であればスライダーをクライアントに</a:t>
            </a:r>
            <a:br/>
            <a:r>
              <a:t>操作してもらう。「自分ごと」感が格段に上がる。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343400"/>
            <a:ext cx="502920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343400"/>
            <a:ext cx="4572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Meiryo"/>
              </a:defRPr>
            </a:pPr>
            <a:r>
              <a:t>前提条件を積極的に説明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7091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「この数字の前提は〜です」と自分から</a:t>
            </a:r>
            <a:br/>
            <a:r>
              <a:t>説明することで、誠実さと専門性をアピール。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Meiryo"/>
              </a:defRPr>
            </a:pPr>
            <a:r>
              <a:t>ROADMAP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Meiryo"/>
              </a:defRPr>
            </a:pPr>
            <a:r>
              <a:t>開発ロードマップ &amp; まとめ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828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33832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645920"/>
            <a:ext cx="548640" cy="2286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64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Meiryo"/>
              </a:defRPr>
            </a:pPr>
            <a:r>
              <a:t>MVP（現在）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入力UI / ROIダッシュボード</a:t>
            </a:r>
            <a:br/>
            <a:r>
              <a:t>シナリオ比較 / 業種テンプレート</a:t>
            </a:r>
            <a:br/>
            <a:r>
              <a:t>感度分析 / 導入比較グラフ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08760"/>
            <a:ext cx="3383280" cy="18288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0591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508760"/>
            <a:ext cx="3383280" cy="36576"/>
          </a:xfrm>
          <a:prstGeom prst="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645920"/>
            <a:ext cx="548640" cy="228600"/>
          </a:xfrm>
          <a:prstGeom prst="roundRect">
            <a:avLst/>
          </a:prstGeom>
          <a:solidFill>
            <a:srgbClr val="0591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664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v1.1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Meiryo"/>
              </a:defRPr>
            </a:pPr>
            <a:r>
              <a:t>次期アップデート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AI適用領域マッピング</a:t>
            </a:r>
            <a:br/>
            <a:r>
              <a:t>PDF出力 / ケーススタディ</a:t>
            </a:r>
            <a:br/>
            <a:r>
              <a:t>共有リンク / ロードマップ生成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08760"/>
            <a:ext cx="33832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645920"/>
            <a:ext cx="54864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664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v2.0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Meiryo"/>
              </a:defRPr>
            </a:pPr>
            <a:r>
              <a:t>将来構想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0116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LLMによるサマリー自動生成</a:t>
            </a:r>
            <a:br/>
            <a:r>
              <a:t>AIが試算結果を分析し考察提供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49039"/>
            <a:ext cx="10728655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749039"/>
            <a:ext cx="1072865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Meiryo"/>
              </a:defRPr>
            </a:pPr>
            <a:r>
              <a:t>AI-ROI Simulator が実現すること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8056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4805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初回商談で即座にROI試算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754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「御社の場合」という具体的な数字で経営層を動かす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3035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3035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3シナリオの透明な提示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577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「保守的でも効果がある」と証明し、信頼を獲得する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056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1B3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4805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インタラクティブな探索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754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What-if分析にリアルタイムで対応し、専門性を示す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3035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53035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Meiryo"/>
              </a:defRPr>
            </a:pPr>
            <a:r>
              <a:t>日本市場初のWebツール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577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Meiryo"/>
              </a:defRPr>
            </a:pPr>
            <a:r>
              <a:t>競合コンサルタントとの決定的な差別化を実現する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Meiryo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